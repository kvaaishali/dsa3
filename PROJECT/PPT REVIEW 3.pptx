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eorgia Bold" charset="1" panose="02040802050405020203"/>
      <p:regular r:id="rId19"/>
    </p:embeddedFont>
    <p:embeddedFont>
      <p:font typeface="Georgia" charset="1" panose="02040502050405020303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2.xml"/><Relationship Id="rId24" Type="http://schemas.openxmlformats.org/officeDocument/2006/relationships/notesSlide" Target="notesSlides/notesSlide3.xml"/><Relationship Id="rId25" Type="http://schemas.openxmlformats.org/officeDocument/2006/relationships/notesSlide" Target="notesSlides/notesSlide4.xml"/><Relationship Id="rId26" Type="http://schemas.openxmlformats.org/officeDocument/2006/relationships/notesSlide" Target="notesSlides/notesSlide5.xml"/><Relationship Id="rId27" Type="http://schemas.openxmlformats.org/officeDocument/2006/relationships/notesSlide" Target="notesSlides/notesSlide6.xml"/><Relationship Id="rId28" Type="http://schemas.openxmlformats.org/officeDocument/2006/relationships/notesSlide" Target="notesSlides/notesSlide7.xml"/><Relationship Id="rId29" Type="http://schemas.openxmlformats.org/officeDocument/2006/relationships/notesSlide" Target="notesSlides/notesSlide8.xml"/><Relationship Id="rId30" Type="http://schemas.openxmlformats.org/officeDocument/2006/relationships/notesSlide" Target="notesSlides/notes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754380"/>
            <a:ext cx="16322040" cy="1222028"/>
            <a:chOff x="0" y="0"/>
            <a:chExt cx="21762720" cy="1629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1629370"/>
            </a:xfrm>
            <a:custGeom>
              <a:avLst/>
              <a:gdLst/>
              <a:ahLst/>
              <a:cxnLst/>
              <a:rect r="r" b="b" t="t" l="l"/>
              <a:pathLst>
                <a:path h="162937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29370"/>
                  </a:lnTo>
                  <a:lnTo>
                    <a:pt x="0" y="1629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580" r="0" b="-1939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762720" cy="1638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High-Performance Medical Information Search System</a:t>
              </a:r>
            </a:p>
            <a:p>
              <a:pPr algn="ctr">
                <a:lnSpc>
                  <a:spcPts val="4320"/>
                </a:lnSpc>
              </a:pP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2263140" y="2179320"/>
          <a:ext cx="13716000" cy="2590800"/>
        </p:xfrm>
        <a:graphic>
          <a:graphicData uri="http://schemas.openxmlformats.org/drawingml/2006/table">
            <a:tbl>
              <a:tblPr/>
              <a:tblGrid>
                <a:gridCol w="6858000"/>
                <a:gridCol w="6858000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Team Member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Roll Number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Vaishali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2520030117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Bindhu Madhavi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2520030077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Sri Kruthi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2520030340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60120" y="5966460"/>
            <a:ext cx="16322040" cy="480060"/>
            <a:chOff x="0" y="0"/>
            <a:chExt cx="2176272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762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7A65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 the Guidance of  </a:t>
              </a:r>
              <a:r>
                <a:rPr lang="en-US" sz="1950" b="true">
                  <a:solidFill>
                    <a:srgbClr val="4F70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S. Madhavi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6419088"/>
            <a:ext cx="16322040" cy="480060"/>
            <a:chOff x="0" y="0"/>
            <a:chExt cx="2176272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762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4F70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of Computer Science and Engineering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1880">
            <a:off x="6368396" y="7607618"/>
            <a:ext cx="5505479" cy="0"/>
          </a:xfrm>
          <a:prstGeom prst="line">
            <a:avLst/>
          </a:prstGeom>
          <a:ln cap="rnd" w="9525">
            <a:solidFill>
              <a:srgbClr val="B3C4D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9" id="19"/>
          <p:cNvGrpSpPr/>
          <p:nvPr/>
        </p:nvGrpSpPr>
        <p:grpSpPr>
          <a:xfrm rot="0">
            <a:off x="960120" y="7886700"/>
            <a:ext cx="16322040" cy="548640"/>
            <a:chOff x="0" y="0"/>
            <a:chExt cx="217627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150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KONERU LAKSHMAIAH EDUCATION FOUNDATION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8435340"/>
            <a:ext cx="16322040" cy="411480"/>
            <a:chOff x="0" y="0"/>
            <a:chExt cx="2176272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7A65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Deemed to be University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364063" y="5143500"/>
            <a:ext cx="725465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Section: 7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 Team: 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28" name="Oval 27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367760" y="1005840"/>
            <a:ext cx="1325880" cy="1325880"/>
          </a:xfrm>
          <a:prstGeom prst="roundRect">
            <a:avLst/>
          </a:prstGeom>
          <a:solidFill>
            <a:srgbClr val="E1EFFC"/>
          </a:solidFill>
          <a:ln>
            <a:solidFill>
              <a:srgbClr val="2C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142D4E"/>
                </a:solidFill>
                <a:latin typeface="Aptos"/>
              </a:rPr>
              <a:t>✚</a:t>
            </a:r>
          </a:p>
          <a:p>
            <a:pPr algn="ctr"/>
            <a:r>
              <a:rPr sz="1600" b="1">
                <a:solidFill>
                  <a:srgbClr val="142D4E"/>
                </a:solidFill>
                <a:latin typeface="Aptos"/>
              </a:rPr>
              <a:t>⌕  KMP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Abstract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312287" y="3657600"/>
            <a:ext cx="10827469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Searches medical information quickly.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Finds medical terms, symptoms, diseases, and medicines.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Uses high-performance text-searching algorithms.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Identifies all occurrences of a searched term.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Displays the positions of matching terms.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Reduces unnecessary character comparisons.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Supports searching across multiple medical text files.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Handles large medical datasets efficiently.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Improves the speed and accuracy of medical information retrieval.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Provides a simple way to locate relevant information in large medical documents.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2" name="Oval 11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19320" y="813435"/>
            <a:ext cx="392310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b="true" sz="5099">
                <a:solidFill>
                  <a:srgbClr val="142D4E"/>
                </a:solidFill>
                <a:latin typeface="Aptos"/>
                <a:ea typeface="Georgia Bold"/>
                <a:cs typeface="Georgia Bold"/>
                <a:sym typeface="Georgia Bold"/>
              </a:rPr>
              <a:t>Description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3109" y="3739704"/>
            <a:ext cx="11541782" cy="403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user enters a medical term to be searched.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Medical information is provided through text files or documents.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system preprocesses the input pattern before searching.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Efficient searching algorithms are applied to find the required term.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system identifies all matching occurrences in the text.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positions of the matching terms are displayed.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searching performance is analyzed based on execution time and efficiency.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system can process large medical text datasets without unnecessary comparisons.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search results help users quickly locate relevant medical information from the available documents.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2" name="Oval 11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Statement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194560"/>
            <a:ext cx="15499080" cy="7406640"/>
            <a:chOff x="0" y="0"/>
            <a:chExt cx="20665440" cy="9875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65439" cy="9875520"/>
            </a:xfrm>
            <a:custGeom>
              <a:avLst/>
              <a:gdLst/>
              <a:ahLst/>
              <a:cxnLst/>
              <a:rect r="r" b="b" t="t" l="l"/>
              <a:pathLst>
                <a:path h="9875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875520"/>
                  </a:lnTo>
                  <a:lnTo>
                    <a:pt x="0" y="9875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13" t="0" r="-1131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65440" cy="9913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information is stored in large documents and text files.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Finding specific medical terms can be time-consuming.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searching may perform unnecessary comparisons.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Searching multiple files increases processing time.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datasets require faster and more efficient searching methods.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Different types of medical information may require different search approaches.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Accurate identification of medical terms and their locations is important.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need clear and understandable search results.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 searching is needed to reduce processing time.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Therefore, a high-performance medical information search solution is required.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4" name="Oval 13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Proposed Functionalities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194560"/>
            <a:ext cx="15499080" cy="7406640"/>
            <a:chOff x="0" y="0"/>
            <a:chExt cx="20665440" cy="9875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65439" cy="9875520"/>
            </a:xfrm>
            <a:custGeom>
              <a:avLst/>
              <a:gdLst/>
              <a:ahLst/>
              <a:cxnLst/>
              <a:rect r="r" b="b" t="t" l="l"/>
              <a:pathLst>
                <a:path h="9875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875520"/>
                  </a:lnTo>
                  <a:lnTo>
                    <a:pt x="0" y="9875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13" t="0" r="-1131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65440" cy="9913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62156" y="3861395"/>
            <a:ext cx="10479524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Exact Medical Term Searching – Finds specific medical terms accurately.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Pattern Matching – Identifies required patterns efficiently.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Approximate Matching – Finds similar medical terms with small differences.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Multiple File Searching – Searches medical terms across multiple files.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Matching Position Identification – Shows the location of matched terms.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Clear Result Display – Presents search results in an easy-to-understand format.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Performance Comparison – Compares the efficiency of different algorithms.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Fast Large-Data Searching – Processes large medical datasets quickly.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Calibri (MS)"/>
                <a:cs typeface="Calibri (MS)"/>
                <a:sym typeface="Calibri (MS)"/>
              </a:rPr>
              <a:t>Efficient Document Processing – Handles multiple medical documents efficiently.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5" name="Oval 14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Tools, Technologies &amp; Algorithms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194560"/>
            <a:ext cx="15499080" cy="7406640"/>
            <a:chOff x="0" y="0"/>
            <a:chExt cx="20665440" cy="9875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65439" cy="9875520"/>
            </a:xfrm>
            <a:custGeom>
              <a:avLst/>
              <a:gdLst/>
              <a:ahLst/>
              <a:cxnLst/>
              <a:rect r="r" b="b" t="t" l="l"/>
              <a:pathLst>
                <a:path h="9875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875520"/>
                  </a:lnTo>
                  <a:lnTo>
                    <a:pt x="0" y="9875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13" t="0" r="-1131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65440" cy="9913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KMP Algorithm.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KMP Algorithm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Z-Function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Rabin-Karp Algorithm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Programming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Flow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Approximation Algorithms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Randomized Algorithms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Algorithms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 File Processing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Analysis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Preprocessing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 Visualization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4" name="Oval 13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148840"/>
            <a:ext cx="2423160" cy="16002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C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800" b="1">
                <a:solidFill>
                  <a:srgbClr val="142D4E"/>
                </a:solidFill>
                <a:latin typeface="Aptos Display"/>
              </a:rPr>
              <a:t>KMP</a:t>
            </a:r>
          </a:p>
          <a:p>
            <a:pPr algn="ctr"/>
            <a:r>
              <a:rPr sz="2500" b="1">
                <a:solidFill>
                  <a:srgbClr val="2C73BE"/>
                </a:solidFill>
                <a:latin typeface="Aptos"/>
              </a:rPr>
              <a:t>π / LPS</a:t>
            </a:r>
          </a:p>
          <a:p>
            <a:pPr algn="ctr"/>
            <a:r>
              <a:rPr sz="1000">
                <a:solidFill>
                  <a:srgbClr val="555F69"/>
                </a:solidFill>
                <a:latin typeface="Aptos"/>
              </a:rPr>
              <a:t>Prefix-suffix preprocessing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148840"/>
            <a:ext cx="2423160" cy="1600200"/>
          </a:xfrm>
          <a:prstGeom prst="roundRect">
            <a:avLst/>
          </a:prstGeom>
          <a:solidFill>
            <a:srgbClr val="EBF8F6"/>
          </a:solidFill>
          <a:ln w="19050"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800" b="1">
                <a:solidFill>
                  <a:srgbClr val="142D4E"/>
                </a:solidFill>
                <a:latin typeface="Aptos Display"/>
              </a:rPr>
              <a:t>Z-Function</a:t>
            </a:r>
          </a:p>
          <a:p>
            <a:pPr algn="ctr"/>
            <a:r>
              <a:rPr sz="2500" b="1">
                <a:solidFill>
                  <a:srgbClr val="239191"/>
                </a:solidFill>
                <a:latin typeface="Aptos"/>
              </a:rPr>
              <a:t>Z[i]</a:t>
            </a:r>
          </a:p>
          <a:p>
            <a:pPr algn="ctr"/>
            <a:r>
              <a:rPr sz="1000">
                <a:solidFill>
                  <a:srgbClr val="555F69"/>
                </a:solidFill>
                <a:latin typeface="Aptos"/>
              </a:rPr>
              <a:t>Prefix-match array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251960"/>
            <a:ext cx="2423160" cy="16002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C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800" b="1">
                <a:solidFill>
                  <a:srgbClr val="142D4E"/>
                </a:solidFill>
                <a:latin typeface="Aptos Display"/>
              </a:rPr>
              <a:t>Rabin–Karp</a:t>
            </a:r>
          </a:p>
          <a:p>
            <a:pPr algn="ctr"/>
            <a:r>
              <a:rPr sz="2500" b="1">
                <a:solidFill>
                  <a:srgbClr val="2C73BE"/>
                </a:solidFill>
                <a:latin typeface="Aptos"/>
              </a:rPr>
              <a:t>H(x)</a:t>
            </a:r>
          </a:p>
          <a:p>
            <a:pPr algn="ctr"/>
            <a:r>
              <a:rPr sz="1000">
                <a:solidFill>
                  <a:srgbClr val="555F69"/>
                </a:solidFill>
                <a:latin typeface="Aptos"/>
              </a:rPr>
              <a:t>Rolling-hash matching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4251960"/>
            <a:ext cx="2423160" cy="1600200"/>
          </a:xfrm>
          <a:prstGeom prst="roundRect">
            <a:avLst/>
          </a:prstGeom>
          <a:solidFill>
            <a:srgbClr val="EBF8F6"/>
          </a:solidFill>
          <a:ln w="19050"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800" b="1">
                <a:solidFill>
                  <a:srgbClr val="142D4E"/>
                </a:solidFill>
                <a:latin typeface="Aptos Display"/>
              </a:rPr>
              <a:t>Dynamic Programming</a:t>
            </a:r>
          </a:p>
          <a:p>
            <a:pPr algn="ctr"/>
            <a:r>
              <a:rPr sz="2500" b="1">
                <a:solidFill>
                  <a:srgbClr val="239191"/>
                </a:solidFill>
                <a:latin typeface="Aptos"/>
              </a:rPr>
              <a:t>DP[i]</a:t>
            </a:r>
          </a:p>
          <a:p>
            <a:pPr algn="ctr"/>
            <a:r>
              <a:rPr sz="1000">
                <a:solidFill>
                  <a:srgbClr val="555F69"/>
                </a:solidFill>
                <a:latin typeface="Aptos"/>
              </a:rPr>
              <a:t>Store and reuse subproblems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6053328"/>
            <a:ext cx="5257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555F69"/>
                </a:solidFill>
              </a:rPr>
              <a:t>Core algorithm symbols used in the medical text-search 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3104" y="1355454"/>
            <a:ext cx="1687642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b="true" sz="5099">
                <a:solidFill>
                  <a:srgbClr val="142D4E"/>
                </a:solidFill>
                <a:latin typeface="Aptos"/>
                <a:ea typeface="Georgia Bold"/>
                <a:cs typeface="Georgia Bold"/>
                <a:sym typeface="Georgia Bold"/>
              </a:rPr>
              <a:t>Implementation Using CO2 and CO3 Algorithms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0272" y="4493895"/>
            <a:ext cx="10674191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Implement the algorithms specified under CO2 and CO3.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Apply the algorithms to search medical terms in text data.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Explain the working principle of each algorithm.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Provide the implementation/code for each algorithm.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Test the algorithms using suitable medical text examples.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Compare the algorithms based on searching efficiency and time complexity.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Explain the contribution of each team member in the implementation.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2" name="Oval 11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79548" y="676275"/>
            <a:ext cx="268069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b="true" sz="5100">
                <a:solidFill>
                  <a:srgbClr val="142D4E"/>
                </a:solidFill>
                <a:latin typeface="Aptos"/>
                <a:ea typeface="Georgia Bold"/>
                <a:cs typeface="Georgia Bold"/>
                <a:sym typeface="Georgia Bold"/>
              </a:rPr>
              <a:t>Outputs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26977" y="3834250"/>
            <a:ext cx="10394846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Display the medical text used as input.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Display the medical term entered for searching.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Show all occurrences of the searched term.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Display the positions of matching terms.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Show the number of matches found.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Display the searching time or performance result.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Show comparison results between implemented algorithms.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Include screenshots of the working application and outputs.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0" name="Oval 9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4526280"/>
            <a:ext cx="18283428" cy="1371600"/>
            <a:chOff x="0" y="0"/>
            <a:chExt cx="24377904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735" r="0" b="-2097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77904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3" name="Oval 12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4" name="Oval 3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DAHU5sRfZH4</dc:identifier>
  <dcterms:modified xsi:type="dcterms:W3CDTF">2011-08-01T06:04:30Z</dcterms:modified>
  <cp:revision>1</cp:revision>
  <dc:title>High-Performance-Text-Searching-KMP (1).pptx</dc:title>
</cp:coreProperties>
</file>